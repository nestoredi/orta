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DC"/>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4AF37">
              <a:alpha val="15000"/>
            </a:srgbClr>
          </a:solidFill>
          <a:ln/>
        </p:spPr>
      </p:sp>
      <p:sp>
        <p:nvSpPr>
          <p:cNvPr id="3" name="Shape 1"/>
          <p:cNvSpPr/>
          <p:nvPr/>
        </p:nvSpPr>
        <p:spPr>
          <a:xfrm rot="10800000">
            <a:off x="-914400" y="-914400"/>
            <a:ext cx="2743200" cy="2743200"/>
          </a:xfrm>
          <a:prstGeom prst="triangle">
            <a:avLst/>
          </a:prstGeom>
          <a:solidFill>
            <a:srgbClr val="D4AF37">
              <a:alpha val="40000"/>
            </a:srgbClr>
          </a:solidFill>
          <a:ln/>
        </p:spPr>
      </p:sp>
      <p:sp>
        <p:nvSpPr>
          <p:cNvPr id="4" name="Shape 2"/>
          <p:cNvSpPr/>
          <p:nvPr/>
        </p:nvSpPr>
        <p:spPr>
          <a:xfrm>
            <a:off x="914400" y="1028700"/>
            <a:ext cx="7315200" cy="3086100"/>
          </a:xfrm>
          <a:prstGeom prst="roundRect">
            <a:avLst/>
          </a:prstGeom>
          <a:solidFill>
            <a:srgbClr val="FFFFFF">
              <a:alpha val="80000"/>
            </a:srgbClr>
          </a:solidFill>
          <a:ln w="50800">
            <a:solidFill>
              <a:srgbClr val="A0522D"/>
            </a:solidFill>
            <a:prstDash val="solid"/>
          </a:ln>
        </p:spPr>
      </p:sp>
      <p:sp>
        <p:nvSpPr>
          <p:cNvPr id="5" name="Shape 3"/>
          <p:cNvSpPr/>
          <p:nvPr/>
        </p:nvSpPr>
        <p:spPr>
          <a:xfrm>
            <a:off x="4206240" y="1285875"/>
            <a:ext cx="914400" cy="914400"/>
          </a:xfrm>
          <a:prstGeom prst="ellipse">
            <a:avLst/>
          </a:prstGeom>
          <a:ln w="25400">
            <a:solidFill>
              <a:srgbClr val="A0522D"/>
            </a:solidFill>
            <a:prstDash val="solid"/>
          </a:ln>
        </p:spPr>
      </p:sp>
      <p:sp>
        <p:nvSpPr>
          <p:cNvPr id="6" name="Text 4"/>
          <p:cNvSpPr/>
          <p:nvPr/>
        </p:nvSpPr>
        <p:spPr>
          <a:xfrm>
            <a:off x="914400" y="1954530"/>
            <a:ext cx="7315200" cy="1371600"/>
          </a:xfrm>
          <a:prstGeom prst="rect">
            <a:avLst/>
          </a:prstGeom>
          <a:noFill/>
          <a:ln/>
        </p:spPr>
        <p:txBody>
          <a:bodyPr wrap="square" rtlCol="0" anchor="ctr"/>
          <a:lstStyle/>
          <a:p>
            <a:pPr algn="ctr" indent="0" marL="0">
              <a:buNone/>
            </a:pPr>
            <a:r>
              <a:rPr lang="en-US" sz="5400" b="1" dirty="0">
                <a:solidFill>
                  <a:srgbClr val="5D4037"/>
                </a:solidFill>
                <a:latin typeface="Georgia" pitchFamily="34" charset="0"/>
                <a:ea typeface="Georgia" pitchFamily="34" charset="-122"/>
                <a:cs typeface="Georgia" pitchFamily="34" charset="-120"/>
              </a:rPr>
              <a:t>Orta Muebles México</a:t>
            </a:r>
            <a:endParaRPr lang="en-US" sz="5400" dirty="0"/>
          </a:p>
        </p:txBody>
      </p:sp>
      <p:sp>
        <p:nvSpPr>
          <p:cNvPr id="7" name="Shape 5"/>
          <p:cNvSpPr/>
          <p:nvPr/>
        </p:nvSpPr>
        <p:spPr>
          <a:xfrm>
            <a:off x="3657600" y="2828925"/>
            <a:ext cx="1828800" cy="0"/>
          </a:xfrm>
          <a:prstGeom prst="line">
            <a:avLst/>
          </a:prstGeom>
          <a:noFill/>
          <a:ln w="38100">
            <a:solidFill>
              <a:srgbClr val="A0522D"/>
            </a:solidFill>
            <a:prstDash val="solid"/>
          </a:ln>
        </p:spPr>
      </p:sp>
      <p:sp>
        <p:nvSpPr>
          <p:cNvPr id="8" name="Text 6"/>
          <p:cNvSpPr/>
          <p:nvPr/>
        </p:nvSpPr>
        <p:spPr>
          <a:xfrm>
            <a:off x="914400" y="3086100"/>
            <a:ext cx="7315200" cy="457200"/>
          </a:xfrm>
          <a:prstGeom prst="rect">
            <a:avLst/>
          </a:prstGeom>
          <a:noFill/>
          <a:ln/>
        </p:spPr>
        <p:txBody>
          <a:bodyPr wrap="square" rtlCol="0" anchor="ctr"/>
          <a:lstStyle/>
          <a:p>
            <a:pPr algn="ctr" indent="0" marL="0">
              <a:buNone/>
            </a:pPr>
            <a:r>
              <a:rPr lang="en-US" sz="2400" spc="300" kern="0" dirty="0">
                <a:solidFill>
                  <a:srgbClr val="A0522D"/>
                </a:solidFill>
                <a:latin typeface="Arial" pitchFamily="34" charset="0"/>
                <a:ea typeface="Arial" pitchFamily="34" charset="-122"/>
                <a:cs typeface="Arial" pitchFamily="34" charset="-120"/>
              </a:rPr>
              <a:t>Estrategia de Marca y Dirección Creativa</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DC"/>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2</a:t>
            </a:r>
            <a:endParaRPr lang="en-US" sz="1000" dirty="0"/>
          </a:p>
        </p:txBody>
      </p:sp>
      <p:sp>
        <p:nvSpPr>
          <p:cNvPr id="3" name="Shape 1"/>
          <p:cNvSpPr/>
          <p:nvPr/>
        </p:nvSpPr>
        <p:spPr>
          <a:xfrm>
            <a:off x="274320" y="274320"/>
            <a:ext cx="8686800" cy="4629150"/>
          </a:xfrm>
          <a:prstGeom prst="rect">
            <a:avLst/>
          </a:prstGeom>
          <a:ln w="25400">
            <a:solidFill>
              <a:srgbClr val="A0522D"/>
            </a:solidFill>
            <a:prstDash val="solid"/>
          </a:ln>
        </p:spPr>
      </p:sp>
      <p:sp>
        <p:nvSpPr>
          <p:cNvPr id="4" name="Text 2"/>
          <p:cNvSpPr/>
          <p:nvPr/>
        </p:nvSpPr>
        <p:spPr>
          <a:xfrm>
            <a:off x="457200" y="731520"/>
            <a:ext cx="8229600" cy="914400"/>
          </a:xfrm>
          <a:prstGeom prst="rect">
            <a:avLst/>
          </a:prstGeom>
          <a:noFill/>
          <a:ln/>
          <a:effectLst>
            <a:outerShdw sx="100000" sy="100000" kx="0" ky="0" algn="bl" rotWithShape="0" blurRad="25400" dist="25400" dir="16200000">
              <a:srgbClr val="000000">
                <a:alpha val="20000"/>
              </a:srgbClr>
            </a:outerShdw>
          </a:effectLst>
        </p:spPr>
        <p:txBody>
          <a:bodyPr wrap="square" rtlCol="0" anchor="ctr"/>
          <a:lstStyle/>
          <a:p>
            <a:pPr algn="ctr" indent="0" marL="0">
              <a:buNone/>
            </a:pPr>
            <a:r>
              <a:rPr lang="en-US" sz="4400" b="1" dirty="0">
                <a:solidFill>
                  <a:srgbClr val="D4AF37"/>
                </a:solidFill>
                <a:latin typeface="Georgia" pitchFamily="34" charset="0"/>
                <a:ea typeface="Georgia" pitchFamily="34" charset="-122"/>
                <a:cs typeface="Georgia" pitchFamily="34" charset="-120"/>
              </a:rPr>
              <a:t>Mi Historia</a:t>
            </a:r>
            <a:endParaRPr lang="en-US" sz="4400" dirty="0"/>
          </a:p>
        </p:txBody>
      </p:sp>
      <p:sp>
        <p:nvSpPr>
          <p:cNvPr id="5" name="Shape 3"/>
          <p:cNvSpPr/>
          <p:nvPr/>
        </p:nvSpPr>
        <p:spPr>
          <a:xfrm>
            <a:off x="1371600" y="2011680"/>
            <a:ext cx="6400800" cy="2286000"/>
          </a:xfrm>
          <a:prstGeom prst="rect">
            <a:avLst/>
          </a:prstGeom>
          <a:solidFill>
            <a:srgbClr val="FFFFFF">
              <a:alpha val="50000"/>
            </a:srgbClr>
          </a:solidFill>
          <a:ln w="12700">
            <a:solidFill>
              <a:srgbClr val="A0522D">
                <a:alpha val="20000"/>
              </a:srgbClr>
            </a:solidFill>
            <a:prstDash val="solid"/>
          </a:ln>
        </p:spPr>
      </p:sp>
      <p:sp>
        <p:nvSpPr>
          <p:cNvPr id="6" name="Text 4"/>
          <p:cNvSpPr/>
          <p:nvPr/>
        </p:nvSpPr>
        <p:spPr>
          <a:xfrm>
            <a:off x="1554480" y="2194560"/>
            <a:ext cx="6035040" cy="1920240"/>
          </a:xfrm>
          <a:prstGeom prst="rect">
            <a:avLst/>
          </a:prstGeom>
          <a:noFill/>
          <a:ln/>
        </p:spPr>
        <p:txBody>
          <a:bodyPr wrap="square" rtlCol="0" anchor="ctr"/>
          <a:lstStyle/>
          <a:p>
            <a:pPr algn="just" indent="0" marL="0">
              <a:buNone/>
            </a:pPr>
            <a:r>
              <a:rPr lang="en-US" sz="1800" dirty="0">
                <a:solidFill>
                  <a:srgbClr val="A0522D"/>
                </a:solidFill>
                <a:latin typeface="Arial" pitchFamily="34" charset="0"/>
                <a:ea typeface="Arial" pitchFamily="34" charset="-122"/>
                <a:cs typeface="Arial" pitchFamily="34" charset="-120"/>
              </a:rPr>
              <a:t>Más de 30 años transformando la madera en patrimonio familiar. Lo que comenzó como un taller de oficio en San Luis Potosí, hoy es un referente de calidad, donde la tradición ebanista se encuentra con el diseño contemporáneo.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0522D"/>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3</a:t>
            </a:r>
            <a:endParaRPr lang="en-US" sz="1000" dirty="0"/>
          </a:p>
        </p:txBody>
      </p:sp>
      <p:sp>
        <p:nvSpPr>
          <p:cNvPr id="3" name="Shape 1"/>
          <p:cNvSpPr/>
          <p:nvPr/>
        </p:nvSpPr>
        <p:spPr>
          <a:xfrm>
            <a:off x="365760" y="365760"/>
            <a:ext cx="8503920" cy="4526280"/>
          </a:xfrm>
          <a:prstGeom prst="rect">
            <a:avLst/>
          </a:prstGeom>
          <a:ln w="38100">
            <a:solidFill>
              <a:srgbClr val="D4AF37"/>
            </a:solidFill>
            <a:prstDash val="solid"/>
          </a:ln>
        </p:spPr>
      </p:sp>
      <p:sp>
        <p:nvSpPr>
          <p:cNvPr id="4" name="Text 2"/>
          <p:cNvSpPr/>
          <p:nvPr/>
        </p:nvSpPr>
        <p:spPr>
          <a:xfrm>
            <a:off x="457200" y="731520"/>
            <a:ext cx="8229600" cy="914400"/>
          </a:xfrm>
          <a:prstGeom prst="rect">
            <a:avLst/>
          </a:prstGeom>
          <a:noFill/>
          <a:ln/>
        </p:spPr>
        <p:txBody>
          <a:bodyPr wrap="square" rtlCol="0" anchor="ctr"/>
          <a:lstStyle/>
          <a:p>
            <a:pPr algn="ctr" indent="0" marL="0">
              <a:buNone/>
            </a:pPr>
            <a:r>
              <a:rPr lang="en-US" sz="4400" b="1" dirty="0">
                <a:solidFill>
                  <a:srgbClr val="D4AF37"/>
                </a:solidFill>
                <a:latin typeface="Georgia" pitchFamily="34" charset="0"/>
                <a:ea typeface="Georgia" pitchFamily="34" charset="-122"/>
                <a:cs typeface="Georgia" pitchFamily="34" charset="-120"/>
              </a:rPr>
              <a:t>La Historia de Orta Muebles</a:t>
            </a:r>
            <a:endParaRPr lang="en-US" sz="4400" dirty="0"/>
          </a:p>
        </p:txBody>
      </p:sp>
      <p:sp>
        <p:nvSpPr>
          <p:cNvPr id="5" name="Shape 3"/>
          <p:cNvSpPr/>
          <p:nvPr/>
        </p:nvSpPr>
        <p:spPr>
          <a:xfrm>
            <a:off x="3657600" y="1645920"/>
            <a:ext cx="1828800" cy="0"/>
          </a:xfrm>
          <a:prstGeom prst="line">
            <a:avLst/>
          </a:prstGeom>
          <a:noFill/>
          <a:ln w="25400">
            <a:solidFill>
              <a:srgbClr val="D4AF37"/>
            </a:solidFill>
            <a:prstDash val="solid"/>
          </a:ln>
        </p:spPr>
      </p:sp>
      <p:sp>
        <p:nvSpPr>
          <p:cNvPr id="6" name="Text 4"/>
          <p:cNvSpPr/>
          <p:nvPr/>
        </p:nvSpPr>
        <p:spPr>
          <a:xfrm>
            <a:off x="1371600" y="2011680"/>
            <a:ext cx="6400800" cy="2743200"/>
          </a:xfrm>
          <a:prstGeom prst="rect">
            <a:avLst/>
          </a:prstGeom>
          <a:noFill/>
          <a:ln/>
        </p:spPr>
        <p:txBody>
          <a:bodyPr wrap="square" rtlCol="0" anchor="ctr"/>
          <a:lstStyle/>
          <a:p>
            <a:pPr algn="just" indent="0" marL="0">
              <a:lnSpc>
                <a:spcPts val="3000"/>
              </a:lnSpc>
              <a:buNone/>
            </a:pPr>
            <a:r>
              <a:rPr lang="en-US" sz="2000" dirty="0">
                <a:solidFill>
                  <a:srgbClr val="F5F5DC"/>
                </a:solidFill>
                <a:latin typeface="Arial" pitchFamily="34" charset="0"/>
                <a:ea typeface="Arial" pitchFamily="34" charset="-122"/>
                <a:cs typeface="Arial" pitchFamily="34" charset="-120"/>
              </a:rPr>
              <a:t>Tres décadas de evolución. De la reparación local a la creación de mobiliario a medida para los hogares más exigentes. Hemos sobrevivido crisis y modas porque nuestra base es sólida: honestidad en el material y maestría en la ejecución.</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DC"/>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4</a:t>
            </a:r>
            <a:endParaRPr lang="en-US" sz="1000" dirty="0"/>
          </a:p>
        </p:txBody>
      </p:sp>
      <p:sp>
        <p:nvSpPr>
          <p:cNvPr id="3" name="Shape 1"/>
          <p:cNvSpPr/>
          <p:nvPr/>
        </p:nvSpPr>
        <p:spPr>
          <a:xfrm>
            <a:off x="365760" y="365760"/>
            <a:ext cx="8412480" cy="4371975"/>
          </a:xfrm>
          <a:prstGeom prst="rect">
            <a:avLst/>
          </a:prstGeom>
          <a:ln w="25400">
            <a:solidFill>
              <a:srgbClr val="A0522D"/>
            </a:solidFill>
            <a:prstDash val="solid"/>
          </a:ln>
        </p:spPr>
      </p:sp>
      <p:sp>
        <p:nvSpPr>
          <p:cNvPr id="4" name="Text 2"/>
          <p:cNvSpPr/>
          <p:nvPr/>
        </p:nvSpPr>
        <p:spPr>
          <a:xfrm>
            <a:off x="457200" y="548640"/>
            <a:ext cx="8229600" cy="0"/>
          </a:xfrm>
          <a:prstGeom prst="rect">
            <a:avLst/>
          </a:prstGeom>
          <a:noFill/>
          <a:ln/>
        </p:spPr>
        <p:txBody>
          <a:bodyPr wrap="square" rtlCol="0" anchor="ctr"/>
          <a:lstStyle/>
          <a:p>
            <a:pPr algn="ctr" indent="0" marL="0">
              <a:buNone/>
            </a:pPr>
            <a:r>
              <a:rPr lang="en-US" sz="3600" b="1" dirty="0">
                <a:solidFill>
                  <a:srgbClr val="D4AF37"/>
                </a:solidFill>
                <a:latin typeface="Georgia" pitchFamily="34" charset="0"/>
                <a:ea typeface="Georgia" pitchFamily="34" charset="-122"/>
                <a:cs typeface="Georgia" pitchFamily="34" charset="-120"/>
              </a:rPr>
              <a:t>Estrategia de Marca (ADN)</a:t>
            </a:r>
            <a:endParaRPr lang="en-US" sz="3600" dirty="0"/>
          </a:p>
        </p:txBody>
      </p:sp>
      <p:sp>
        <p:nvSpPr>
          <p:cNvPr id="5" name="Text 3"/>
          <p:cNvSpPr/>
          <p:nvPr/>
        </p:nvSpPr>
        <p:spPr>
          <a:xfrm>
            <a:off x="1828800" y="2286000"/>
            <a:ext cx="5486400" cy="1828800"/>
          </a:xfrm>
          <a:prstGeom prst="rect">
            <a:avLst/>
          </a:prstGeom>
          <a:solidFill>
            <a:srgbClr val="FFFFFF">
              <a:alpha val="40000"/>
            </a:srgbClr>
          </a:solidFill>
          <a:ln w="12700">
            <a:solidFill>
              <a:srgbClr val="A0522D"/>
            </a:solidFill>
            <a:prstDash val="dash"/>
          </a:ln>
        </p:spPr>
        <p:txBody>
          <a:bodyPr wrap="square" rtlCol="0" anchor="ctr"/>
          <a:lstStyle/>
          <a:p>
            <a:pPr algn="ctr" indent="0" marL="0">
              <a:buNone/>
            </a:pPr>
            <a:r>
              <a:rPr lang="en-US" sz="1600" dirty="0">
                <a:solidFill>
                  <a:srgbClr val="A0522D"/>
                </a:solidFill>
              </a:rPr>
              <a:t>Arquetipo: "El Creador" con matices de "Gobernante".</a:t>
            </a:r>
            <a:endParaRPr lang="en-US" sz="1600" dirty="0"/>
          </a:p>
          <a:p>
            <a:pPr algn="ctr" indent="0" marL="0">
              <a:buNone/>
            </a:pPr>
            <a:endParaRPr lang="en-US" sz="1600" dirty="0"/>
          </a:p>
          <a:p>
            <a:pPr algn="ctr" indent="0" marL="0">
              <a:buNone/>
            </a:pPr>
            <a:r>
              <a:rPr lang="en-US" sz="1600" dirty="0">
                <a:solidFill>
                  <a:srgbClr val="A0522D"/>
                </a:solidFill>
              </a:rPr>
              <a:t>Promesa: "Mobiliario que cuenta tu historia".</a:t>
            </a:r>
            <a:endParaRPr lang="en-US" sz="1600" dirty="0"/>
          </a:p>
          <a:p>
            <a:pPr algn="ctr" indent="0" marL="0">
              <a:buNone/>
            </a:pPr>
            <a:endParaRPr lang="en-US" sz="1600" dirty="0"/>
          </a:p>
          <a:p>
            <a:pPr algn="ctr" indent="0" marL="0">
              <a:buNone/>
            </a:pPr>
            <a:r>
              <a:rPr lang="en-US" sz="1600" dirty="0">
                <a:solidFill>
                  <a:srgbClr val="A0522D"/>
                </a:solidFill>
              </a:rPr>
              <a:t>Valores: Maestría Artesanal (No hacemos muebles, creamos legados), Honestidad Material (Madera real, sin trucos) y Diseño Vivible (Lujo que se puede tocar y usar).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A0522D"/>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5</a:t>
            </a:r>
            <a:endParaRPr lang="en-US" sz="1000" dirty="0"/>
          </a:p>
        </p:txBody>
      </p:sp>
      <p:sp>
        <p:nvSpPr>
          <p:cNvPr id="3" name="Shape 1"/>
          <p:cNvSpPr/>
          <p:nvPr/>
        </p:nvSpPr>
        <p:spPr>
          <a:xfrm>
            <a:off x="365760" y="365760"/>
            <a:ext cx="8412480" cy="4371975"/>
          </a:xfrm>
          <a:prstGeom prst="rect">
            <a:avLst/>
          </a:prstGeom>
          <a:ln w="25400">
            <a:solidFill>
              <a:srgbClr val="D4AF37"/>
            </a:solidFill>
            <a:prstDash val="solid"/>
          </a:ln>
        </p:spPr>
      </p:sp>
      <p:sp>
        <p:nvSpPr>
          <p:cNvPr id="4" name="Text 2"/>
          <p:cNvSpPr/>
          <p:nvPr/>
        </p:nvSpPr>
        <p:spPr>
          <a:xfrm>
            <a:off x="457200" y="548640"/>
            <a:ext cx="8229600" cy="0"/>
          </a:xfrm>
          <a:prstGeom prst="rect">
            <a:avLst/>
          </a:prstGeom>
          <a:noFill/>
          <a:ln/>
        </p:spPr>
        <p:txBody>
          <a:bodyPr wrap="square" rtlCol="0" anchor="ctr"/>
          <a:lstStyle/>
          <a:p>
            <a:pPr algn="ctr" indent="0" marL="0">
              <a:buNone/>
            </a:pPr>
            <a:r>
              <a:rPr lang="en-US" sz="3600" b="1" dirty="0">
                <a:solidFill>
                  <a:srgbClr val="D4AF37"/>
                </a:solidFill>
                <a:latin typeface="Georgia" pitchFamily="34" charset="0"/>
                <a:ea typeface="Georgia" pitchFamily="34" charset="-122"/>
                <a:cs typeface="Georgia" pitchFamily="34" charset="-120"/>
              </a:rPr>
              <a:t>Conceptos de Logo: 1 y 2</a:t>
            </a:r>
            <a:endParaRPr lang="en-US" sz="3600" dirty="0"/>
          </a:p>
        </p:txBody>
      </p:sp>
      <p:sp>
        <p:nvSpPr>
          <p:cNvPr id="5" name="Text 3"/>
          <p:cNvSpPr/>
          <p:nvPr/>
        </p:nvSpPr>
        <p:spPr>
          <a:xfrm>
            <a:off x="1828800" y="2286000"/>
            <a:ext cx="5486400" cy="1828800"/>
          </a:xfrm>
          <a:prstGeom prst="rect">
            <a:avLst/>
          </a:prstGeom>
          <a:solidFill>
            <a:srgbClr val="000000">
              <a:alpha val="20000"/>
            </a:srgbClr>
          </a:solidFill>
          <a:ln w="12700">
            <a:solidFill>
              <a:srgbClr val="D4AF37"/>
            </a:solidFill>
            <a:prstDash val="dash"/>
          </a:ln>
        </p:spPr>
        <p:txBody>
          <a:bodyPr wrap="square" rtlCol="0" anchor="ctr"/>
          <a:lstStyle/>
          <a:p>
            <a:pPr algn="ctr" indent="0" marL="0">
              <a:buNone/>
            </a:pPr>
            <a:r>
              <a:rPr lang="en-US" sz="1600" dirty="0">
                <a:solidFill>
                  <a:srgbClr val="D4AF37"/>
                </a:solidFill>
              </a:rPr>
              <a:t>1. El Sello del Ebanista: Un monograma "OM" entrelazado con remates clásicos (serifas), evocando un hierro de marcar ganado o madera. Color: Oro sobre Marrón.</a:t>
            </a:r>
            <a:endParaRPr lang="en-US" sz="1600" dirty="0"/>
          </a:p>
          <a:p>
            <a:pPr algn="ctr" indent="0" marL="0">
              <a:buNone/>
            </a:pPr>
            <a:endParaRPr lang="en-US" sz="1600" dirty="0"/>
          </a:p>
          <a:p>
            <a:pPr algn="ctr" indent="0" marL="0">
              <a:buNone/>
            </a:pPr>
            <a:r>
              <a:rPr lang="en-US" sz="1600" dirty="0">
                <a:solidFill>
                  <a:srgbClr val="D4AF37"/>
                </a:solidFill>
              </a:rPr>
              <a:t>2. La Veta Minimalista: Tipografía Sans Serif limpia, donde la letra "O" simula los anillos de crecimiento de un árbol cortado transversalmente.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4AF37"/>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6</a:t>
            </a:r>
            <a:endParaRPr lang="en-US" sz="1000" dirty="0"/>
          </a:p>
        </p:txBody>
      </p:sp>
      <p:sp>
        <p:nvSpPr>
          <p:cNvPr id="3" name="Shape 1"/>
          <p:cNvSpPr/>
          <p:nvPr/>
        </p:nvSpPr>
        <p:spPr>
          <a:xfrm>
            <a:off x="365760" y="365760"/>
            <a:ext cx="8412480" cy="4371975"/>
          </a:xfrm>
          <a:prstGeom prst="rect">
            <a:avLst/>
          </a:prstGeom>
          <a:ln w="25400">
            <a:solidFill>
              <a:srgbClr val="A0522D"/>
            </a:solidFill>
            <a:prstDash val="solid"/>
          </a:ln>
        </p:spPr>
      </p:sp>
      <p:sp>
        <p:nvSpPr>
          <p:cNvPr id="4" name="Text 2"/>
          <p:cNvSpPr/>
          <p:nvPr/>
        </p:nvSpPr>
        <p:spPr>
          <a:xfrm>
            <a:off x="457200" y="548640"/>
            <a:ext cx="8229600" cy="0"/>
          </a:xfrm>
          <a:prstGeom prst="rect">
            <a:avLst/>
          </a:prstGeom>
          <a:noFill/>
          <a:ln/>
          <a:effectLst>
            <a:outerShdw sx="100000" sy="100000" kx="0" ky="0" algn="bl" rotWithShape="0" blurRad="101600" dist="25400" dir="16200000">
              <a:srgbClr val="000000">
                <a:alpha val="10000"/>
              </a:srgbClr>
            </a:outerShdw>
          </a:effectLst>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Conceptos de Logo: 3 y 4</a:t>
            </a:r>
            <a:endParaRPr lang="en-US" sz="3600" dirty="0"/>
          </a:p>
        </p:txBody>
      </p:sp>
      <p:sp>
        <p:nvSpPr>
          <p:cNvPr id="5" name="Text 3"/>
          <p:cNvSpPr/>
          <p:nvPr/>
        </p:nvSpPr>
        <p:spPr>
          <a:xfrm>
            <a:off x="1828800" y="2286000"/>
            <a:ext cx="5486400" cy="1828800"/>
          </a:xfrm>
          <a:prstGeom prst="rect">
            <a:avLst/>
          </a:prstGeom>
          <a:solidFill>
            <a:srgbClr val="FFFFFF">
              <a:alpha val="30000"/>
            </a:srgbClr>
          </a:solidFill>
          <a:ln w="12700">
            <a:solidFill>
              <a:srgbClr val="A0522D"/>
            </a:solidFill>
            <a:prstDash val="dash"/>
          </a:ln>
        </p:spPr>
        <p:txBody>
          <a:bodyPr wrap="square" rtlCol="0" anchor="ctr"/>
          <a:lstStyle/>
          <a:p>
            <a:pPr algn="ctr" indent="0" marL="0">
              <a:buNone/>
            </a:pPr>
            <a:r>
              <a:rPr lang="en-US" sz="1600" b="1" dirty="0">
                <a:solidFill>
                  <a:srgbClr val="A0522D"/>
                </a:solidFill>
              </a:rPr>
              <a:t>3. La Ensambladura: Un isotipo abstracto que muestra dos piezas encajando perfectamente (cola de milano), simbolizando la unión entre cliente y artesano.</a:t>
            </a:r>
            <a:endParaRPr lang="en-US" sz="1600" dirty="0"/>
          </a:p>
          <a:p>
            <a:pPr algn="ctr" indent="0" marL="0">
              <a:buNone/>
            </a:pPr>
            <a:endParaRPr lang="en-US" sz="1600" dirty="0"/>
          </a:p>
          <a:p>
            <a:pPr algn="ctr" indent="0" marL="0">
              <a:buNone/>
            </a:pPr>
            <a:r>
              <a:rPr lang="en-US" sz="1600" b="1" dirty="0">
                <a:solidFill>
                  <a:srgbClr val="A0522D"/>
                </a:solidFill>
              </a:rPr>
              <a:t>4. La Firma: "Orta" escrito a mano alzada pero vectorizado, transmitiendo el toque humano y la garantía personal de Néstor Crossa.</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DC"/>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7</a:t>
            </a:r>
            <a:endParaRPr lang="en-US" sz="1000" dirty="0"/>
          </a:p>
        </p:txBody>
      </p:sp>
      <p:sp>
        <p:nvSpPr>
          <p:cNvPr id="3" name="Shape 1"/>
          <p:cNvSpPr/>
          <p:nvPr/>
        </p:nvSpPr>
        <p:spPr>
          <a:xfrm>
            <a:off x="365760" y="365760"/>
            <a:ext cx="8412480" cy="4371975"/>
          </a:xfrm>
          <a:prstGeom prst="rect">
            <a:avLst/>
          </a:prstGeom>
          <a:ln w="25400">
            <a:solidFill>
              <a:srgbClr val="A0522D"/>
            </a:solidFill>
            <a:prstDash val="solid"/>
          </a:ln>
        </p:spPr>
      </p:sp>
      <p:sp>
        <p:nvSpPr>
          <p:cNvPr id="4" name="Text 2"/>
          <p:cNvSpPr/>
          <p:nvPr/>
        </p:nvSpPr>
        <p:spPr>
          <a:xfrm>
            <a:off x="457200" y="548640"/>
            <a:ext cx="8229600" cy="0"/>
          </a:xfrm>
          <a:prstGeom prst="rect">
            <a:avLst/>
          </a:prstGeom>
          <a:noFill/>
          <a:ln/>
        </p:spPr>
        <p:txBody>
          <a:bodyPr wrap="square" rtlCol="0" anchor="ctr"/>
          <a:lstStyle/>
          <a:p>
            <a:pPr algn="ctr" indent="0" marL="0">
              <a:buNone/>
            </a:pPr>
            <a:r>
              <a:rPr lang="en-US" sz="3600" b="1" dirty="0">
                <a:solidFill>
                  <a:srgbClr val="D4AF37"/>
                </a:solidFill>
                <a:latin typeface="Georgia" pitchFamily="34" charset="0"/>
                <a:ea typeface="Georgia" pitchFamily="34" charset="-122"/>
                <a:cs typeface="Georgia" pitchFamily="34" charset="-120"/>
              </a:rPr>
              <a:t>Dirección Fotográfica</a:t>
            </a:r>
            <a:endParaRPr lang="en-US" sz="3600" dirty="0"/>
          </a:p>
        </p:txBody>
      </p:sp>
      <p:sp>
        <p:nvSpPr>
          <p:cNvPr id="5" name="Text 3"/>
          <p:cNvSpPr/>
          <p:nvPr/>
        </p:nvSpPr>
        <p:spPr>
          <a:xfrm>
            <a:off x="1828800" y="2286000"/>
            <a:ext cx="5486400" cy="1828800"/>
          </a:xfrm>
          <a:prstGeom prst="rect">
            <a:avLst/>
          </a:prstGeom>
          <a:solidFill>
            <a:srgbClr val="FFFFFF">
              <a:alpha val="40000"/>
            </a:srgbClr>
          </a:solidFill>
          <a:ln w="12700">
            <a:solidFill>
              <a:srgbClr val="A0522D"/>
            </a:solidFill>
            <a:prstDash val="dash"/>
          </a:ln>
        </p:spPr>
        <p:txBody>
          <a:bodyPr wrap="square" rtlCol="0" anchor="ctr"/>
          <a:lstStyle/>
          <a:p>
            <a:pPr algn="ctr" indent="0" marL="0">
              <a:buNone/>
            </a:pPr>
            <a:r>
              <a:rPr lang="en-US" sz="1600" dirty="0">
                <a:solidFill>
                  <a:srgbClr val="A0522D"/>
                </a:solidFill>
              </a:rPr>
              <a:t>Estilo: "Atmósfera Cálida y Textura".</a:t>
            </a:r>
            <a:endParaRPr lang="en-US" sz="1600" dirty="0"/>
          </a:p>
          <a:p>
            <a:pPr algn="ctr" indent="0" marL="0">
              <a:buNone/>
            </a:pPr>
            <a:endParaRPr lang="en-US" sz="1600" dirty="0"/>
          </a:p>
          <a:p>
            <a:pPr algn="ctr" indent="0" marL="0">
              <a:buNone/>
            </a:pPr>
            <a:r>
              <a:rPr lang="en-US" sz="1600" dirty="0">
                <a:solidFill>
                  <a:srgbClr val="A0522D"/>
                </a:solidFill>
              </a:rPr>
              <a:t>1. Macro de texturas: Primer plano de la mano lijando la veta.</a:t>
            </a:r>
            <a:endParaRPr lang="en-US" sz="1600" dirty="0"/>
          </a:p>
          <a:p>
            <a:pPr algn="ctr" indent="0" marL="0">
              <a:buNone/>
            </a:pPr>
            <a:r>
              <a:rPr lang="en-US" sz="1600" dirty="0">
                <a:solidFill>
                  <a:srgbClr val="A0522D"/>
                </a:solidFill>
              </a:rPr>
              <a:t>2. El Proceso: Virutas de madera volando con luz natural de ventana.</a:t>
            </a:r>
            <a:endParaRPr lang="en-US" sz="1600" dirty="0"/>
          </a:p>
          <a:p>
            <a:pPr algn="ctr" indent="0" marL="0">
              <a:buNone/>
            </a:pPr>
            <a:r>
              <a:rPr lang="en-US" sz="1600" dirty="0">
                <a:solidFill>
                  <a:srgbClr val="A0522D"/>
                </a:solidFill>
              </a:rPr>
              <a:t>3. El Resultado: Muebles en espacios reales, con luz cálida (Golden Hour), libros y tazas de café para mostrar habitabilidad.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0522D"/>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8</a:t>
            </a:r>
            <a:endParaRPr lang="en-US" sz="1000" dirty="0"/>
          </a:p>
        </p:txBody>
      </p:sp>
      <p:sp>
        <p:nvSpPr>
          <p:cNvPr id="3" name="Shape 1"/>
          <p:cNvSpPr/>
          <p:nvPr/>
        </p:nvSpPr>
        <p:spPr>
          <a:xfrm>
            <a:off x="365760" y="365760"/>
            <a:ext cx="8412480" cy="4371975"/>
          </a:xfrm>
          <a:prstGeom prst="rect">
            <a:avLst/>
          </a:prstGeom>
          <a:ln w="25400">
            <a:solidFill>
              <a:srgbClr val="D4AF37"/>
            </a:solidFill>
            <a:prstDash val="solid"/>
          </a:ln>
        </p:spPr>
      </p:sp>
      <p:sp>
        <p:nvSpPr>
          <p:cNvPr id="4" name="Text 2"/>
          <p:cNvSpPr/>
          <p:nvPr/>
        </p:nvSpPr>
        <p:spPr>
          <a:xfrm>
            <a:off x="457200" y="548640"/>
            <a:ext cx="8229600" cy="0"/>
          </a:xfrm>
          <a:prstGeom prst="rect">
            <a:avLst/>
          </a:prstGeom>
          <a:noFill/>
          <a:ln/>
        </p:spPr>
        <p:txBody>
          <a:bodyPr wrap="square" rtlCol="0" anchor="ctr"/>
          <a:lstStyle/>
          <a:p>
            <a:pPr algn="ctr" indent="0" marL="0">
              <a:buNone/>
            </a:pPr>
            <a:r>
              <a:rPr lang="en-US" sz="3600" b="1" dirty="0">
                <a:solidFill>
                  <a:srgbClr val="D4AF37"/>
                </a:solidFill>
                <a:latin typeface="Georgia" pitchFamily="34" charset="0"/>
                <a:ea typeface="Georgia" pitchFamily="34" charset="-122"/>
                <a:cs typeface="Georgia" pitchFamily="34" charset="-120"/>
              </a:rPr>
              <a:t>Plan de Contenidos: Semana 1 y 2</a:t>
            </a:r>
            <a:endParaRPr lang="en-US" sz="3600" dirty="0"/>
          </a:p>
        </p:txBody>
      </p:sp>
      <p:sp>
        <p:nvSpPr>
          <p:cNvPr id="5" name="Text 3"/>
          <p:cNvSpPr/>
          <p:nvPr/>
        </p:nvSpPr>
        <p:spPr>
          <a:xfrm>
            <a:off x="1828800" y="2286000"/>
            <a:ext cx="5486400" cy="1828800"/>
          </a:xfrm>
          <a:prstGeom prst="rect">
            <a:avLst/>
          </a:prstGeom>
          <a:solidFill>
            <a:srgbClr val="000000">
              <a:alpha val="20000"/>
            </a:srgbClr>
          </a:solidFill>
          <a:ln w="12700">
            <a:solidFill>
              <a:srgbClr val="D4AF37"/>
            </a:solidFill>
            <a:prstDash val="dash"/>
          </a:ln>
        </p:spPr>
        <p:txBody>
          <a:bodyPr wrap="square" rtlCol="0" anchor="ctr"/>
          <a:lstStyle/>
          <a:p>
            <a:pPr algn="ctr" indent="0" marL="0">
              <a:buNone/>
            </a:pPr>
            <a:r>
              <a:rPr lang="en-US" sz="1600" dirty="0">
                <a:solidFill>
                  <a:srgbClr val="D4AF37"/>
                </a:solidFill>
              </a:rPr>
              <a:t>Semana 1 (Autoridad): Video "3 formas de identificar madera real vs aglomerado". Foto del taller: "30 años de aserrín y pasión".</a:t>
            </a:r>
            <a:endParaRPr lang="en-US" sz="1600" dirty="0"/>
          </a:p>
          <a:p>
            <a:pPr algn="ctr" indent="0" marL="0">
              <a:buNone/>
            </a:pPr>
            <a:endParaRPr lang="en-US" sz="1600" dirty="0"/>
          </a:p>
          <a:p>
            <a:pPr algn="ctr" indent="0" marL="0">
              <a:buNone/>
            </a:pPr>
            <a:r>
              <a:rPr lang="en-US" sz="1600" dirty="0">
                <a:solidFill>
                  <a:srgbClr val="D4AF37"/>
                </a:solidFill>
              </a:rPr>
              <a:t>Semana 2 (Proceso): Reel en cámara rápida del barnizado de una mesa. Carrusel: "El viaje de tu mueble: Del boceto a tu sala".</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4AF37"/>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9</a:t>
            </a:r>
            <a:endParaRPr lang="en-US" sz="1000" dirty="0"/>
          </a:p>
        </p:txBody>
      </p:sp>
      <p:sp>
        <p:nvSpPr>
          <p:cNvPr id="3" name="Shape 1"/>
          <p:cNvSpPr/>
          <p:nvPr/>
        </p:nvSpPr>
        <p:spPr>
          <a:xfrm>
            <a:off x="365760" y="365760"/>
            <a:ext cx="8412480" cy="4371975"/>
          </a:xfrm>
          <a:prstGeom prst="rect">
            <a:avLst/>
          </a:prstGeom>
          <a:ln w="25400">
            <a:solidFill>
              <a:srgbClr val="A0522D"/>
            </a:solidFill>
            <a:prstDash val="solid"/>
          </a:ln>
        </p:spPr>
      </p:sp>
      <p:sp>
        <p:nvSpPr>
          <p:cNvPr id="4" name="Text 2"/>
          <p:cNvSpPr/>
          <p:nvPr/>
        </p:nvSpPr>
        <p:spPr>
          <a:xfrm>
            <a:off x="457200" y="548640"/>
            <a:ext cx="8229600" cy="0"/>
          </a:xfrm>
          <a:prstGeom prst="rect">
            <a:avLst/>
          </a:prstGeom>
          <a:noFill/>
          <a:ln/>
          <a:effectLst>
            <a:outerShdw sx="100000" sy="100000" kx="0" ky="0" algn="bl" rotWithShape="0" blurRad="101600" dist="25400" dir="16200000">
              <a:srgbClr val="000000">
                <a:alpha val="10000"/>
              </a:srgbClr>
            </a:outerShdw>
          </a:effectLst>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Plan de Contenidos: Semana 3 y 4</a:t>
            </a:r>
            <a:endParaRPr lang="en-US" sz="3600" dirty="0"/>
          </a:p>
        </p:txBody>
      </p:sp>
      <p:sp>
        <p:nvSpPr>
          <p:cNvPr id="5" name="Text 3"/>
          <p:cNvSpPr/>
          <p:nvPr/>
        </p:nvSpPr>
        <p:spPr>
          <a:xfrm>
            <a:off x="1828800" y="2286000"/>
            <a:ext cx="5486400" cy="1828800"/>
          </a:xfrm>
          <a:prstGeom prst="rect">
            <a:avLst/>
          </a:prstGeom>
          <a:solidFill>
            <a:srgbClr val="FFFFFF">
              <a:alpha val="30000"/>
            </a:srgbClr>
          </a:solidFill>
          <a:ln w="12700">
            <a:solidFill>
              <a:srgbClr val="A0522D"/>
            </a:solidFill>
            <a:prstDash val="dash"/>
          </a:ln>
        </p:spPr>
        <p:txBody>
          <a:bodyPr wrap="square" rtlCol="0" anchor="ctr"/>
          <a:lstStyle/>
          <a:p>
            <a:pPr algn="ctr" indent="0" marL="0">
              <a:buNone/>
            </a:pPr>
            <a:r>
              <a:rPr lang="en-US" sz="1600" b="1" dirty="0">
                <a:solidFill>
                  <a:srgbClr val="A0522D"/>
                </a:solidFill>
              </a:rPr>
              <a:t>Semana 3 (Prueba Social): Foto de cliente feliz en su comedor nuevo. Testimonio: "¿Por qué elegir muebles a medida?".</a:t>
            </a:r>
            <a:endParaRPr lang="en-US" sz="1600" dirty="0"/>
          </a:p>
          <a:p>
            <a:pPr algn="ctr" indent="0" marL="0">
              <a:buNone/>
            </a:pPr>
            <a:endParaRPr lang="en-US" sz="1600" dirty="0"/>
          </a:p>
          <a:p>
            <a:pPr algn="ctr" indent="0" marL="0">
              <a:buNone/>
            </a:pPr>
            <a:r>
              <a:rPr lang="en-US" sz="1600" b="1" dirty="0">
                <a:solidFill>
                  <a:srgbClr val="A0522D"/>
                </a:solidFill>
              </a:rPr>
              <a:t>Semana 4 (Venta Suave): "Espacios difíciles requieren soluciones a medida". Call to Action: Agenda tu visita de cotización sin costo.</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DC"/>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10</a:t>
            </a:r>
            <a:endParaRPr lang="en-US" sz="1000" dirty="0"/>
          </a:p>
        </p:txBody>
      </p:sp>
      <p:sp>
        <p:nvSpPr>
          <p:cNvPr id="3" name="Shape 1"/>
          <p:cNvSpPr/>
          <p:nvPr/>
        </p:nvSpPr>
        <p:spPr>
          <a:xfrm>
            <a:off x="365760" y="365760"/>
            <a:ext cx="8412480" cy="4371975"/>
          </a:xfrm>
          <a:prstGeom prst="rect">
            <a:avLst/>
          </a:prstGeom>
          <a:ln w="25400">
            <a:solidFill>
              <a:srgbClr val="A0522D"/>
            </a:solidFill>
            <a:prstDash val="solid"/>
          </a:ln>
        </p:spPr>
      </p:sp>
      <p:sp>
        <p:nvSpPr>
          <p:cNvPr id="4" name="Text 2"/>
          <p:cNvSpPr/>
          <p:nvPr/>
        </p:nvSpPr>
        <p:spPr>
          <a:xfrm>
            <a:off x="457200" y="548640"/>
            <a:ext cx="8229600" cy="0"/>
          </a:xfrm>
          <a:prstGeom prst="rect">
            <a:avLst/>
          </a:prstGeom>
          <a:noFill/>
          <a:ln/>
        </p:spPr>
        <p:txBody>
          <a:bodyPr wrap="square" rtlCol="0" anchor="ctr"/>
          <a:lstStyle/>
          <a:p>
            <a:pPr algn="ctr" indent="0" marL="0">
              <a:buNone/>
            </a:pPr>
            <a:r>
              <a:rPr lang="en-US" sz="3600" b="1" dirty="0">
                <a:solidFill>
                  <a:srgbClr val="D4AF37"/>
                </a:solidFill>
                <a:latin typeface="Georgia" pitchFamily="34" charset="0"/>
                <a:ea typeface="Georgia" pitchFamily="34" charset="-122"/>
                <a:cs typeface="Georgia" pitchFamily="34" charset="-120"/>
              </a:rPr>
              <a:t>Diapositiva 10</a:t>
            </a:r>
            <a:endParaRPr lang="en-US" sz="3600" dirty="0"/>
          </a:p>
        </p:txBody>
      </p:sp>
      <p:sp>
        <p:nvSpPr>
          <p:cNvPr id="5" name="Text 3"/>
          <p:cNvSpPr/>
          <p:nvPr/>
        </p:nvSpPr>
        <p:spPr>
          <a:xfrm>
            <a:off x="1828800" y="2286000"/>
            <a:ext cx="5486400" cy="1828800"/>
          </a:xfrm>
          <a:prstGeom prst="rect">
            <a:avLst/>
          </a:prstGeom>
          <a:solidFill>
            <a:srgbClr val="FFFFFF">
              <a:alpha val="40000"/>
            </a:srgbClr>
          </a:solidFill>
          <a:ln w="12700">
            <a:solidFill>
              <a:srgbClr val="A0522D"/>
            </a:solidFill>
            <a:prstDash val="dash"/>
          </a:ln>
        </p:spPr>
        <p:txBody>
          <a:bodyPr wrap="square" rtlCol="0" anchor="ctr"/>
          <a:lstStyle/>
          <a:p>
            <a:pPr algn="ctr" indent="0" marL="0">
              <a:buNone/>
            </a:pPr>
            <a:r>
              <a:rPr lang="en-US" sz="1600" dirty="0">
                <a:solidFill>
                  <a:srgbClr val="A0522D"/>
                </a:solidFill>
              </a:rPr>
              <a:t>Utilice este espacio para añadir métricas mensuales, testimonios de clientes o detalles técnicos específicos.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A0522D"/>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11</a:t>
            </a:r>
            <a:endParaRPr lang="en-US" sz="1000" dirty="0"/>
          </a:p>
        </p:txBody>
      </p:sp>
      <p:sp>
        <p:nvSpPr>
          <p:cNvPr id="3" name="Shape 1"/>
          <p:cNvSpPr/>
          <p:nvPr/>
        </p:nvSpPr>
        <p:spPr>
          <a:xfrm>
            <a:off x="365760" y="365760"/>
            <a:ext cx="8412480" cy="4371975"/>
          </a:xfrm>
          <a:prstGeom prst="rect">
            <a:avLst/>
          </a:prstGeom>
          <a:ln w="25400">
            <a:solidFill>
              <a:srgbClr val="D4AF37"/>
            </a:solidFill>
            <a:prstDash val="solid"/>
          </a:ln>
        </p:spPr>
      </p:sp>
      <p:sp>
        <p:nvSpPr>
          <p:cNvPr id="4" name="Text 2"/>
          <p:cNvSpPr/>
          <p:nvPr/>
        </p:nvSpPr>
        <p:spPr>
          <a:xfrm>
            <a:off x="457200" y="548640"/>
            <a:ext cx="8229600" cy="0"/>
          </a:xfrm>
          <a:prstGeom prst="rect">
            <a:avLst/>
          </a:prstGeom>
          <a:noFill/>
          <a:ln/>
        </p:spPr>
        <p:txBody>
          <a:bodyPr wrap="square" rtlCol="0" anchor="ctr"/>
          <a:lstStyle/>
          <a:p>
            <a:pPr algn="ctr" indent="0" marL="0">
              <a:buNone/>
            </a:pPr>
            <a:r>
              <a:rPr lang="en-US" sz="3600" b="1" dirty="0">
                <a:solidFill>
                  <a:srgbClr val="D4AF37"/>
                </a:solidFill>
                <a:latin typeface="Georgia" pitchFamily="34" charset="0"/>
                <a:ea typeface="Georgia" pitchFamily="34" charset="-122"/>
                <a:cs typeface="Georgia" pitchFamily="34" charset="-120"/>
              </a:rPr>
              <a:t>Diapositiva 11</a:t>
            </a:r>
            <a:endParaRPr lang="en-US" sz="3600" dirty="0"/>
          </a:p>
        </p:txBody>
      </p:sp>
      <p:sp>
        <p:nvSpPr>
          <p:cNvPr id="5" name="Text 3"/>
          <p:cNvSpPr/>
          <p:nvPr/>
        </p:nvSpPr>
        <p:spPr>
          <a:xfrm>
            <a:off x="1828800" y="2286000"/>
            <a:ext cx="5486400" cy="1828800"/>
          </a:xfrm>
          <a:prstGeom prst="rect">
            <a:avLst/>
          </a:prstGeom>
          <a:solidFill>
            <a:srgbClr val="000000">
              <a:alpha val="20000"/>
            </a:srgbClr>
          </a:solidFill>
          <a:ln w="12700">
            <a:solidFill>
              <a:srgbClr val="D4AF37"/>
            </a:solidFill>
            <a:prstDash val="dash"/>
          </a:ln>
        </p:spPr>
        <p:txBody>
          <a:bodyPr wrap="square" rtlCol="0" anchor="ctr"/>
          <a:lstStyle/>
          <a:p>
            <a:pPr algn="ctr" indent="0" marL="0">
              <a:buNone/>
            </a:pPr>
            <a:r>
              <a:rPr lang="en-US" sz="1600" dirty="0">
                <a:solidFill>
                  <a:srgbClr val="D4AF37"/>
                </a:solidFill>
              </a:rPr>
              <a:t>Utilice este espacio para añadir métricas mensuales, testimonios de clientes o detalles técnicos específicos.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4AF37"/>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12</a:t>
            </a:r>
            <a:endParaRPr lang="en-US" sz="1000" dirty="0"/>
          </a:p>
        </p:txBody>
      </p:sp>
      <p:sp>
        <p:nvSpPr>
          <p:cNvPr id="3" name="Shape 1"/>
          <p:cNvSpPr/>
          <p:nvPr/>
        </p:nvSpPr>
        <p:spPr>
          <a:xfrm>
            <a:off x="365760" y="365760"/>
            <a:ext cx="8412480" cy="4371975"/>
          </a:xfrm>
          <a:prstGeom prst="rect">
            <a:avLst/>
          </a:prstGeom>
          <a:ln w="25400">
            <a:solidFill>
              <a:srgbClr val="A0522D"/>
            </a:solidFill>
            <a:prstDash val="solid"/>
          </a:ln>
        </p:spPr>
      </p:sp>
      <p:sp>
        <p:nvSpPr>
          <p:cNvPr id="4" name="Text 2"/>
          <p:cNvSpPr/>
          <p:nvPr/>
        </p:nvSpPr>
        <p:spPr>
          <a:xfrm>
            <a:off x="457200" y="548640"/>
            <a:ext cx="8229600" cy="0"/>
          </a:xfrm>
          <a:prstGeom prst="rect">
            <a:avLst/>
          </a:prstGeom>
          <a:noFill/>
          <a:ln/>
          <a:effectLst>
            <a:outerShdw sx="100000" sy="100000" kx="0" ky="0" algn="bl" rotWithShape="0" blurRad="101600" dist="25400" dir="16200000">
              <a:srgbClr val="000000">
                <a:alpha val="10000"/>
              </a:srgbClr>
            </a:outerShdw>
          </a:effectLst>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Diapositiva 12</a:t>
            </a:r>
            <a:endParaRPr lang="en-US" sz="3600" dirty="0"/>
          </a:p>
        </p:txBody>
      </p:sp>
      <p:sp>
        <p:nvSpPr>
          <p:cNvPr id="5" name="Text 3"/>
          <p:cNvSpPr/>
          <p:nvPr/>
        </p:nvSpPr>
        <p:spPr>
          <a:xfrm>
            <a:off x="1828800" y="2286000"/>
            <a:ext cx="5486400" cy="1828800"/>
          </a:xfrm>
          <a:prstGeom prst="rect">
            <a:avLst/>
          </a:prstGeom>
          <a:solidFill>
            <a:srgbClr val="FFFFFF">
              <a:alpha val="30000"/>
            </a:srgbClr>
          </a:solidFill>
          <a:ln w="12700">
            <a:solidFill>
              <a:srgbClr val="A0522D"/>
            </a:solidFill>
            <a:prstDash val="dash"/>
          </a:ln>
        </p:spPr>
        <p:txBody>
          <a:bodyPr wrap="square" rtlCol="0" anchor="ctr"/>
          <a:lstStyle/>
          <a:p>
            <a:pPr algn="ctr" indent="0" marL="0">
              <a:buNone/>
            </a:pPr>
            <a:r>
              <a:rPr lang="en-US" sz="1600" b="1" dirty="0">
                <a:solidFill>
                  <a:srgbClr val="A0522D"/>
                </a:solidFill>
              </a:rPr>
              <a:t>Utilice este espacio para añadir métricas mensuales, testimonios de clientes o detalles técnicos específicos.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DC"/>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13</a:t>
            </a:r>
            <a:endParaRPr lang="en-US" sz="1000" dirty="0"/>
          </a:p>
        </p:txBody>
      </p:sp>
      <p:sp>
        <p:nvSpPr>
          <p:cNvPr id="3" name="Shape 1"/>
          <p:cNvSpPr/>
          <p:nvPr/>
        </p:nvSpPr>
        <p:spPr>
          <a:xfrm>
            <a:off x="365760" y="365760"/>
            <a:ext cx="8412480" cy="4371975"/>
          </a:xfrm>
          <a:prstGeom prst="rect">
            <a:avLst/>
          </a:prstGeom>
          <a:ln w="25400">
            <a:solidFill>
              <a:srgbClr val="A0522D"/>
            </a:solidFill>
            <a:prstDash val="solid"/>
          </a:ln>
        </p:spPr>
      </p:sp>
      <p:sp>
        <p:nvSpPr>
          <p:cNvPr id="4" name="Text 2"/>
          <p:cNvSpPr/>
          <p:nvPr/>
        </p:nvSpPr>
        <p:spPr>
          <a:xfrm>
            <a:off x="457200" y="548640"/>
            <a:ext cx="8229600" cy="0"/>
          </a:xfrm>
          <a:prstGeom prst="rect">
            <a:avLst/>
          </a:prstGeom>
          <a:noFill/>
          <a:ln/>
        </p:spPr>
        <p:txBody>
          <a:bodyPr wrap="square" rtlCol="0" anchor="ctr"/>
          <a:lstStyle/>
          <a:p>
            <a:pPr algn="ctr" indent="0" marL="0">
              <a:buNone/>
            </a:pPr>
            <a:r>
              <a:rPr lang="en-US" sz="3600" b="1" dirty="0">
                <a:solidFill>
                  <a:srgbClr val="D4AF37"/>
                </a:solidFill>
                <a:latin typeface="Georgia" pitchFamily="34" charset="0"/>
                <a:ea typeface="Georgia" pitchFamily="34" charset="-122"/>
                <a:cs typeface="Georgia" pitchFamily="34" charset="-120"/>
              </a:rPr>
              <a:t>Diapositiva 13</a:t>
            </a:r>
            <a:endParaRPr lang="en-US" sz="3600" dirty="0"/>
          </a:p>
        </p:txBody>
      </p:sp>
      <p:sp>
        <p:nvSpPr>
          <p:cNvPr id="5" name="Text 3"/>
          <p:cNvSpPr/>
          <p:nvPr/>
        </p:nvSpPr>
        <p:spPr>
          <a:xfrm>
            <a:off x="1828800" y="2286000"/>
            <a:ext cx="5486400" cy="1828800"/>
          </a:xfrm>
          <a:prstGeom prst="rect">
            <a:avLst/>
          </a:prstGeom>
          <a:solidFill>
            <a:srgbClr val="FFFFFF">
              <a:alpha val="40000"/>
            </a:srgbClr>
          </a:solidFill>
          <a:ln w="12700">
            <a:solidFill>
              <a:srgbClr val="A0522D"/>
            </a:solidFill>
            <a:prstDash val="dash"/>
          </a:ln>
        </p:spPr>
        <p:txBody>
          <a:bodyPr wrap="square" rtlCol="0" anchor="ctr"/>
          <a:lstStyle/>
          <a:p>
            <a:pPr algn="ctr" indent="0" marL="0">
              <a:buNone/>
            </a:pPr>
            <a:r>
              <a:rPr lang="en-US" sz="1600" dirty="0">
                <a:solidFill>
                  <a:srgbClr val="A0522D"/>
                </a:solidFill>
              </a:rPr>
              <a:t>Utilice este espacio para añadir métricas mensuales, testimonios de clientes o detalles técnicos específicos.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A0522D"/>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14</a:t>
            </a:r>
            <a:endParaRPr lang="en-US" sz="1000" dirty="0"/>
          </a:p>
        </p:txBody>
      </p:sp>
      <p:sp>
        <p:nvSpPr>
          <p:cNvPr id="3" name="Shape 1"/>
          <p:cNvSpPr/>
          <p:nvPr/>
        </p:nvSpPr>
        <p:spPr>
          <a:xfrm>
            <a:off x="365760" y="365760"/>
            <a:ext cx="8412480" cy="4371975"/>
          </a:xfrm>
          <a:prstGeom prst="rect">
            <a:avLst/>
          </a:prstGeom>
          <a:ln w="25400">
            <a:solidFill>
              <a:srgbClr val="D4AF37"/>
            </a:solidFill>
            <a:prstDash val="solid"/>
          </a:ln>
        </p:spPr>
      </p:sp>
      <p:sp>
        <p:nvSpPr>
          <p:cNvPr id="4" name="Text 2"/>
          <p:cNvSpPr/>
          <p:nvPr/>
        </p:nvSpPr>
        <p:spPr>
          <a:xfrm>
            <a:off x="457200" y="548640"/>
            <a:ext cx="8229600" cy="0"/>
          </a:xfrm>
          <a:prstGeom prst="rect">
            <a:avLst/>
          </a:prstGeom>
          <a:noFill/>
          <a:ln/>
        </p:spPr>
        <p:txBody>
          <a:bodyPr wrap="square" rtlCol="0" anchor="ctr"/>
          <a:lstStyle/>
          <a:p>
            <a:pPr algn="ctr" indent="0" marL="0">
              <a:buNone/>
            </a:pPr>
            <a:r>
              <a:rPr lang="en-US" sz="3600" b="1" dirty="0">
                <a:solidFill>
                  <a:srgbClr val="D4AF37"/>
                </a:solidFill>
                <a:latin typeface="Georgia" pitchFamily="34" charset="0"/>
                <a:ea typeface="Georgia" pitchFamily="34" charset="-122"/>
                <a:cs typeface="Georgia" pitchFamily="34" charset="-120"/>
              </a:rPr>
              <a:t>Diapositiva 14</a:t>
            </a:r>
            <a:endParaRPr lang="en-US" sz="3600" dirty="0"/>
          </a:p>
        </p:txBody>
      </p:sp>
      <p:sp>
        <p:nvSpPr>
          <p:cNvPr id="5" name="Text 3"/>
          <p:cNvSpPr/>
          <p:nvPr/>
        </p:nvSpPr>
        <p:spPr>
          <a:xfrm>
            <a:off x="1828800" y="2286000"/>
            <a:ext cx="5486400" cy="1828800"/>
          </a:xfrm>
          <a:prstGeom prst="rect">
            <a:avLst/>
          </a:prstGeom>
          <a:solidFill>
            <a:srgbClr val="000000">
              <a:alpha val="20000"/>
            </a:srgbClr>
          </a:solidFill>
          <a:ln w="12700">
            <a:solidFill>
              <a:srgbClr val="D4AF37"/>
            </a:solidFill>
            <a:prstDash val="dash"/>
          </a:ln>
        </p:spPr>
        <p:txBody>
          <a:bodyPr wrap="square" rtlCol="0" anchor="ctr"/>
          <a:lstStyle/>
          <a:p>
            <a:pPr algn="ctr" indent="0" marL="0">
              <a:buNone/>
            </a:pPr>
            <a:r>
              <a:rPr lang="en-US" sz="1600" dirty="0">
                <a:solidFill>
                  <a:srgbClr val="D4AF37"/>
                </a:solidFill>
              </a:rPr>
              <a:t>Utilice este espacio para añadir métricas mensuales, testimonios de clientes o detalles técnicos específicos.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4AF37"/>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15</a:t>
            </a:r>
            <a:endParaRPr lang="en-US" sz="1000" dirty="0"/>
          </a:p>
        </p:txBody>
      </p:sp>
      <p:sp>
        <p:nvSpPr>
          <p:cNvPr id="3" name="Shape 1"/>
          <p:cNvSpPr/>
          <p:nvPr/>
        </p:nvSpPr>
        <p:spPr>
          <a:xfrm>
            <a:off x="365760" y="365760"/>
            <a:ext cx="8412480" cy="4371975"/>
          </a:xfrm>
          <a:prstGeom prst="rect">
            <a:avLst/>
          </a:prstGeom>
          <a:ln w="25400">
            <a:solidFill>
              <a:srgbClr val="A0522D"/>
            </a:solidFill>
            <a:prstDash val="solid"/>
          </a:ln>
        </p:spPr>
      </p:sp>
      <p:sp>
        <p:nvSpPr>
          <p:cNvPr id="4" name="Text 2"/>
          <p:cNvSpPr/>
          <p:nvPr/>
        </p:nvSpPr>
        <p:spPr>
          <a:xfrm>
            <a:off x="457200" y="548640"/>
            <a:ext cx="8229600" cy="0"/>
          </a:xfrm>
          <a:prstGeom prst="rect">
            <a:avLst/>
          </a:prstGeom>
          <a:noFill/>
          <a:ln/>
          <a:effectLst>
            <a:outerShdw sx="100000" sy="100000" kx="0" ky="0" algn="bl" rotWithShape="0" blurRad="101600" dist="25400" dir="16200000">
              <a:srgbClr val="000000">
                <a:alpha val="10000"/>
              </a:srgbClr>
            </a:outerShdw>
          </a:effectLst>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Diapositiva 15</a:t>
            </a:r>
            <a:endParaRPr lang="en-US" sz="3600" dirty="0"/>
          </a:p>
        </p:txBody>
      </p:sp>
      <p:sp>
        <p:nvSpPr>
          <p:cNvPr id="5" name="Text 3"/>
          <p:cNvSpPr/>
          <p:nvPr/>
        </p:nvSpPr>
        <p:spPr>
          <a:xfrm>
            <a:off x="1828800" y="2286000"/>
            <a:ext cx="5486400" cy="1828800"/>
          </a:xfrm>
          <a:prstGeom prst="rect">
            <a:avLst/>
          </a:prstGeom>
          <a:solidFill>
            <a:srgbClr val="FFFFFF">
              <a:alpha val="30000"/>
            </a:srgbClr>
          </a:solidFill>
          <a:ln w="12700">
            <a:solidFill>
              <a:srgbClr val="A0522D"/>
            </a:solidFill>
            <a:prstDash val="dash"/>
          </a:ln>
        </p:spPr>
        <p:txBody>
          <a:bodyPr wrap="square" rtlCol="0" anchor="ctr"/>
          <a:lstStyle/>
          <a:p>
            <a:pPr algn="ctr" indent="0" marL="0">
              <a:buNone/>
            </a:pPr>
            <a:r>
              <a:rPr lang="en-US" sz="1600" b="1" dirty="0">
                <a:solidFill>
                  <a:srgbClr val="A0522D"/>
                </a:solidFill>
              </a:rPr>
              <a:t>Utilice este espacio para añadir métricas mensuales, testimonios de clientes o detalles técnicos específicos.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DC"/>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16</a:t>
            </a:r>
            <a:endParaRPr lang="en-US" sz="1000" dirty="0"/>
          </a:p>
        </p:txBody>
      </p:sp>
      <p:sp>
        <p:nvSpPr>
          <p:cNvPr id="3" name="Shape 1"/>
          <p:cNvSpPr/>
          <p:nvPr/>
        </p:nvSpPr>
        <p:spPr>
          <a:xfrm>
            <a:off x="365760" y="365760"/>
            <a:ext cx="8412480" cy="4371975"/>
          </a:xfrm>
          <a:prstGeom prst="rect">
            <a:avLst/>
          </a:prstGeom>
          <a:ln w="25400">
            <a:solidFill>
              <a:srgbClr val="A0522D"/>
            </a:solidFill>
            <a:prstDash val="solid"/>
          </a:ln>
        </p:spPr>
      </p:sp>
      <p:sp>
        <p:nvSpPr>
          <p:cNvPr id="4" name="Text 2"/>
          <p:cNvSpPr/>
          <p:nvPr/>
        </p:nvSpPr>
        <p:spPr>
          <a:xfrm>
            <a:off x="457200" y="548640"/>
            <a:ext cx="8229600" cy="0"/>
          </a:xfrm>
          <a:prstGeom prst="rect">
            <a:avLst/>
          </a:prstGeom>
          <a:noFill/>
          <a:ln/>
        </p:spPr>
        <p:txBody>
          <a:bodyPr wrap="square" rtlCol="0" anchor="ctr"/>
          <a:lstStyle/>
          <a:p>
            <a:pPr algn="ctr" indent="0" marL="0">
              <a:buNone/>
            </a:pPr>
            <a:r>
              <a:rPr lang="en-US" sz="3600" b="1" dirty="0">
                <a:solidFill>
                  <a:srgbClr val="D4AF37"/>
                </a:solidFill>
                <a:latin typeface="Georgia" pitchFamily="34" charset="0"/>
                <a:ea typeface="Georgia" pitchFamily="34" charset="-122"/>
                <a:cs typeface="Georgia" pitchFamily="34" charset="-120"/>
              </a:rPr>
              <a:t>Diapositiva 16</a:t>
            </a:r>
            <a:endParaRPr lang="en-US" sz="3600" dirty="0"/>
          </a:p>
        </p:txBody>
      </p:sp>
      <p:sp>
        <p:nvSpPr>
          <p:cNvPr id="5" name="Text 3"/>
          <p:cNvSpPr/>
          <p:nvPr/>
        </p:nvSpPr>
        <p:spPr>
          <a:xfrm>
            <a:off x="1828800" y="2286000"/>
            <a:ext cx="5486400" cy="1828800"/>
          </a:xfrm>
          <a:prstGeom prst="rect">
            <a:avLst/>
          </a:prstGeom>
          <a:solidFill>
            <a:srgbClr val="FFFFFF">
              <a:alpha val="40000"/>
            </a:srgbClr>
          </a:solidFill>
          <a:ln w="12700">
            <a:solidFill>
              <a:srgbClr val="A0522D"/>
            </a:solidFill>
            <a:prstDash val="dash"/>
          </a:ln>
        </p:spPr>
        <p:txBody>
          <a:bodyPr wrap="square" rtlCol="0" anchor="ctr"/>
          <a:lstStyle/>
          <a:p>
            <a:pPr algn="ctr" indent="0" marL="0">
              <a:buNone/>
            </a:pPr>
            <a:r>
              <a:rPr lang="en-US" sz="1600" dirty="0">
                <a:solidFill>
                  <a:srgbClr val="A0522D"/>
                </a:solidFill>
              </a:rPr>
              <a:t>Utilice este espacio para añadir métricas mensuales, testimonios de clientes o detalles técnicos específicos.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A0522D"/>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17</a:t>
            </a:r>
            <a:endParaRPr lang="en-US" sz="1000" dirty="0"/>
          </a:p>
        </p:txBody>
      </p:sp>
      <p:sp>
        <p:nvSpPr>
          <p:cNvPr id="3" name="Shape 1"/>
          <p:cNvSpPr/>
          <p:nvPr/>
        </p:nvSpPr>
        <p:spPr>
          <a:xfrm>
            <a:off x="365760" y="365760"/>
            <a:ext cx="8412480" cy="4371975"/>
          </a:xfrm>
          <a:prstGeom prst="rect">
            <a:avLst/>
          </a:prstGeom>
          <a:ln w="25400">
            <a:solidFill>
              <a:srgbClr val="D4AF37"/>
            </a:solidFill>
            <a:prstDash val="solid"/>
          </a:ln>
        </p:spPr>
      </p:sp>
      <p:sp>
        <p:nvSpPr>
          <p:cNvPr id="4" name="Text 2"/>
          <p:cNvSpPr/>
          <p:nvPr/>
        </p:nvSpPr>
        <p:spPr>
          <a:xfrm>
            <a:off x="457200" y="548640"/>
            <a:ext cx="8229600" cy="0"/>
          </a:xfrm>
          <a:prstGeom prst="rect">
            <a:avLst/>
          </a:prstGeom>
          <a:noFill/>
          <a:ln/>
        </p:spPr>
        <p:txBody>
          <a:bodyPr wrap="square" rtlCol="0" anchor="ctr"/>
          <a:lstStyle/>
          <a:p>
            <a:pPr algn="ctr" indent="0" marL="0">
              <a:buNone/>
            </a:pPr>
            <a:r>
              <a:rPr lang="en-US" sz="3600" b="1" dirty="0">
                <a:solidFill>
                  <a:srgbClr val="D4AF37"/>
                </a:solidFill>
                <a:latin typeface="Georgia" pitchFamily="34" charset="0"/>
                <a:ea typeface="Georgia" pitchFamily="34" charset="-122"/>
                <a:cs typeface="Georgia" pitchFamily="34" charset="-120"/>
              </a:rPr>
              <a:t>Diapositiva 17</a:t>
            </a:r>
            <a:endParaRPr lang="en-US" sz="3600" dirty="0"/>
          </a:p>
        </p:txBody>
      </p:sp>
      <p:sp>
        <p:nvSpPr>
          <p:cNvPr id="5" name="Text 3"/>
          <p:cNvSpPr/>
          <p:nvPr/>
        </p:nvSpPr>
        <p:spPr>
          <a:xfrm>
            <a:off x="1828800" y="2286000"/>
            <a:ext cx="5486400" cy="1828800"/>
          </a:xfrm>
          <a:prstGeom prst="rect">
            <a:avLst/>
          </a:prstGeom>
          <a:solidFill>
            <a:srgbClr val="000000">
              <a:alpha val="20000"/>
            </a:srgbClr>
          </a:solidFill>
          <a:ln w="12700">
            <a:solidFill>
              <a:srgbClr val="D4AF37"/>
            </a:solidFill>
            <a:prstDash val="dash"/>
          </a:ln>
        </p:spPr>
        <p:txBody>
          <a:bodyPr wrap="square" rtlCol="0" anchor="ctr"/>
          <a:lstStyle/>
          <a:p>
            <a:pPr algn="ctr" indent="0" marL="0">
              <a:buNone/>
            </a:pPr>
            <a:r>
              <a:rPr lang="en-US" sz="1600" dirty="0">
                <a:solidFill>
                  <a:srgbClr val="D4AF37"/>
                </a:solidFill>
              </a:rPr>
              <a:t>Utilice este espacio para añadir métricas mensuales, testimonios de clientes o detalles técnicos específicos.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4AF37"/>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18</a:t>
            </a:r>
            <a:endParaRPr lang="en-US" sz="1000" dirty="0"/>
          </a:p>
        </p:txBody>
      </p:sp>
      <p:sp>
        <p:nvSpPr>
          <p:cNvPr id="3" name="Shape 1"/>
          <p:cNvSpPr/>
          <p:nvPr/>
        </p:nvSpPr>
        <p:spPr>
          <a:xfrm>
            <a:off x="365760" y="365760"/>
            <a:ext cx="8412480" cy="4371975"/>
          </a:xfrm>
          <a:prstGeom prst="rect">
            <a:avLst/>
          </a:prstGeom>
          <a:ln w="25400">
            <a:solidFill>
              <a:srgbClr val="A0522D"/>
            </a:solidFill>
            <a:prstDash val="solid"/>
          </a:ln>
        </p:spPr>
      </p:sp>
      <p:sp>
        <p:nvSpPr>
          <p:cNvPr id="4" name="Text 2"/>
          <p:cNvSpPr/>
          <p:nvPr/>
        </p:nvSpPr>
        <p:spPr>
          <a:xfrm>
            <a:off x="457200" y="548640"/>
            <a:ext cx="8229600" cy="0"/>
          </a:xfrm>
          <a:prstGeom prst="rect">
            <a:avLst/>
          </a:prstGeom>
          <a:noFill/>
          <a:ln/>
          <a:effectLst>
            <a:outerShdw sx="100000" sy="100000" kx="0" ky="0" algn="bl" rotWithShape="0" blurRad="101600" dist="25400" dir="16200000">
              <a:srgbClr val="000000">
                <a:alpha val="10000"/>
              </a:srgbClr>
            </a:outerShdw>
          </a:effectLst>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Diapositiva 18</a:t>
            </a:r>
            <a:endParaRPr lang="en-US" sz="3600" dirty="0"/>
          </a:p>
        </p:txBody>
      </p:sp>
      <p:sp>
        <p:nvSpPr>
          <p:cNvPr id="5" name="Text 3"/>
          <p:cNvSpPr/>
          <p:nvPr/>
        </p:nvSpPr>
        <p:spPr>
          <a:xfrm>
            <a:off x="1828800" y="2286000"/>
            <a:ext cx="5486400" cy="1828800"/>
          </a:xfrm>
          <a:prstGeom prst="rect">
            <a:avLst/>
          </a:prstGeom>
          <a:solidFill>
            <a:srgbClr val="FFFFFF">
              <a:alpha val="30000"/>
            </a:srgbClr>
          </a:solidFill>
          <a:ln w="12700">
            <a:solidFill>
              <a:srgbClr val="A0522D"/>
            </a:solidFill>
            <a:prstDash val="dash"/>
          </a:ln>
        </p:spPr>
        <p:txBody>
          <a:bodyPr wrap="square" rtlCol="0" anchor="ctr"/>
          <a:lstStyle/>
          <a:p>
            <a:pPr algn="ctr" indent="0" marL="0">
              <a:buNone/>
            </a:pPr>
            <a:r>
              <a:rPr lang="en-US" sz="1600" b="1" dirty="0">
                <a:solidFill>
                  <a:srgbClr val="A0522D"/>
                </a:solidFill>
              </a:rPr>
              <a:t>Utilice este espacio para añadir métricas mensuales, testimonios de clientes o detalles técnicos específicos.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DC"/>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19</a:t>
            </a:r>
            <a:endParaRPr lang="en-US" sz="1000" dirty="0"/>
          </a:p>
        </p:txBody>
      </p:sp>
      <p:sp>
        <p:nvSpPr>
          <p:cNvPr id="3" name="Shape 1"/>
          <p:cNvSpPr/>
          <p:nvPr/>
        </p:nvSpPr>
        <p:spPr>
          <a:xfrm>
            <a:off x="365760" y="365760"/>
            <a:ext cx="8412480" cy="4371975"/>
          </a:xfrm>
          <a:prstGeom prst="rect">
            <a:avLst/>
          </a:prstGeom>
          <a:ln w="25400">
            <a:solidFill>
              <a:srgbClr val="A0522D"/>
            </a:solidFill>
            <a:prstDash val="solid"/>
          </a:ln>
        </p:spPr>
      </p:sp>
      <p:sp>
        <p:nvSpPr>
          <p:cNvPr id="4" name="Text 2"/>
          <p:cNvSpPr/>
          <p:nvPr/>
        </p:nvSpPr>
        <p:spPr>
          <a:xfrm>
            <a:off x="457200" y="548640"/>
            <a:ext cx="8229600" cy="0"/>
          </a:xfrm>
          <a:prstGeom prst="rect">
            <a:avLst/>
          </a:prstGeom>
          <a:noFill/>
          <a:ln/>
        </p:spPr>
        <p:txBody>
          <a:bodyPr wrap="square" rtlCol="0" anchor="ctr"/>
          <a:lstStyle/>
          <a:p>
            <a:pPr algn="ctr" indent="0" marL="0">
              <a:buNone/>
            </a:pPr>
            <a:r>
              <a:rPr lang="en-US" sz="3600" b="1" dirty="0">
                <a:solidFill>
                  <a:srgbClr val="D4AF37"/>
                </a:solidFill>
                <a:latin typeface="Georgia" pitchFamily="34" charset="0"/>
                <a:ea typeface="Georgia" pitchFamily="34" charset="-122"/>
                <a:cs typeface="Georgia" pitchFamily="34" charset="-120"/>
              </a:rPr>
              <a:t>Diapositiva 19</a:t>
            </a:r>
            <a:endParaRPr lang="en-US" sz="3600" dirty="0"/>
          </a:p>
        </p:txBody>
      </p:sp>
      <p:sp>
        <p:nvSpPr>
          <p:cNvPr id="5" name="Text 3"/>
          <p:cNvSpPr/>
          <p:nvPr/>
        </p:nvSpPr>
        <p:spPr>
          <a:xfrm>
            <a:off x="1828800" y="2286000"/>
            <a:ext cx="5486400" cy="1828800"/>
          </a:xfrm>
          <a:prstGeom prst="rect">
            <a:avLst/>
          </a:prstGeom>
          <a:solidFill>
            <a:srgbClr val="FFFFFF">
              <a:alpha val="40000"/>
            </a:srgbClr>
          </a:solidFill>
          <a:ln w="12700">
            <a:solidFill>
              <a:srgbClr val="A0522D"/>
            </a:solidFill>
            <a:prstDash val="dash"/>
          </a:ln>
        </p:spPr>
        <p:txBody>
          <a:bodyPr wrap="square" rtlCol="0" anchor="ctr"/>
          <a:lstStyle/>
          <a:p>
            <a:pPr algn="ctr" indent="0" marL="0">
              <a:buNone/>
            </a:pPr>
            <a:r>
              <a:rPr lang="en-US" sz="1600" dirty="0">
                <a:solidFill>
                  <a:srgbClr val="A0522D"/>
                </a:solidFill>
              </a:rPr>
              <a:t>Utilice este espacio para añadir métricas mensuales, testimonios de clientes o detalles técnicos específicos.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A0522D"/>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20</a:t>
            </a:r>
            <a:endParaRPr lang="en-US" sz="1000" dirty="0"/>
          </a:p>
        </p:txBody>
      </p:sp>
      <p:sp>
        <p:nvSpPr>
          <p:cNvPr id="3" name="Shape 1"/>
          <p:cNvSpPr/>
          <p:nvPr/>
        </p:nvSpPr>
        <p:spPr>
          <a:xfrm>
            <a:off x="365760" y="365760"/>
            <a:ext cx="8412480" cy="4371975"/>
          </a:xfrm>
          <a:prstGeom prst="rect">
            <a:avLst/>
          </a:prstGeom>
          <a:ln w="25400">
            <a:solidFill>
              <a:srgbClr val="D4AF37"/>
            </a:solidFill>
            <a:prstDash val="solid"/>
          </a:ln>
        </p:spPr>
      </p:sp>
      <p:sp>
        <p:nvSpPr>
          <p:cNvPr id="4" name="Text 2"/>
          <p:cNvSpPr/>
          <p:nvPr/>
        </p:nvSpPr>
        <p:spPr>
          <a:xfrm>
            <a:off x="457200" y="548640"/>
            <a:ext cx="8229600" cy="0"/>
          </a:xfrm>
          <a:prstGeom prst="rect">
            <a:avLst/>
          </a:prstGeom>
          <a:noFill/>
          <a:ln/>
        </p:spPr>
        <p:txBody>
          <a:bodyPr wrap="square" rtlCol="0" anchor="ctr"/>
          <a:lstStyle/>
          <a:p>
            <a:pPr algn="ctr" indent="0" marL="0">
              <a:buNone/>
            </a:pPr>
            <a:r>
              <a:rPr lang="en-US" sz="3600" b="1" dirty="0">
                <a:solidFill>
                  <a:srgbClr val="D4AF37"/>
                </a:solidFill>
                <a:latin typeface="Georgia" pitchFamily="34" charset="0"/>
                <a:ea typeface="Georgia" pitchFamily="34" charset="-122"/>
                <a:cs typeface="Georgia" pitchFamily="34" charset="-120"/>
              </a:rPr>
              <a:t>Diapositiva 20</a:t>
            </a:r>
            <a:endParaRPr lang="en-US" sz="3600" dirty="0"/>
          </a:p>
        </p:txBody>
      </p:sp>
      <p:sp>
        <p:nvSpPr>
          <p:cNvPr id="5" name="Text 3"/>
          <p:cNvSpPr/>
          <p:nvPr/>
        </p:nvSpPr>
        <p:spPr>
          <a:xfrm>
            <a:off x="1828800" y="2286000"/>
            <a:ext cx="5486400" cy="1828800"/>
          </a:xfrm>
          <a:prstGeom prst="rect">
            <a:avLst/>
          </a:prstGeom>
          <a:solidFill>
            <a:srgbClr val="000000">
              <a:alpha val="20000"/>
            </a:srgbClr>
          </a:solidFill>
          <a:ln w="12700">
            <a:solidFill>
              <a:srgbClr val="D4AF37"/>
            </a:solidFill>
            <a:prstDash val="dash"/>
          </a:ln>
        </p:spPr>
        <p:txBody>
          <a:bodyPr wrap="square" rtlCol="0" anchor="ctr"/>
          <a:lstStyle/>
          <a:p>
            <a:pPr algn="ctr" indent="0" marL="0">
              <a:buNone/>
            </a:pPr>
            <a:r>
              <a:rPr lang="en-US" sz="1600" dirty="0">
                <a:solidFill>
                  <a:srgbClr val="D4AF37"/>
                </a:solidFill>
              </a:rPr>
              <a:t>Utilice este espacio para añadir métricas mensuales, testimonios de clientes o detalles técnicos específicos.</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D4AF37"/>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21</a:t>
            </a:r>
            <a:endParaRPr lang="en-US" sz="1000" dirty="0"/>
          </a:p>
        </p:txBody>
      </p:sp>
      <p:sp>
        <p:nvSpPr>
          <p:cNvPr id="3" name="Shape 1"/>
          <p:cNvSpPr/>
          <p:nvPr/>
        </p:nvSpPr>
        <p:spPr>
          <a:xfrm>
            <a:off x="365760" y="365760"/>
            <a:ext cx="8412480" cy="4371975"/>
          </a:xfrm>
          <a:prstGeom prst="rect">
            <a:avLst/>
          </a:prstGeom>
          <a:ln w="25400">
            <a:solidFill>
              <a:srgbClr val="A0522D"/>
            </a:solidFill>
            <a:prstDash val="solid"/>
          </a:ln>
        </p:spPr>
      </p:sp>
      <p:sp>
        <p:nvSpPr>
          <p:cNvPr id="4" name="Text 2"/>
          <p:cNvSpPr/>
          <p:nvPr/>
        </p:nvSpPr>
        <p:spPr>
          <a:xfrm>
            <a:off x="457200" y="548640"/>
            <a:ext cx="8229600" cy="0"/>
          </a:xfrm>
          <a:prstGeom prst="rect">
            <a:avLst/>
          </a:prstGeom>
          <a:noFill/>
          <a:ln/>
          <a:effectLst>
            <a:outerShdw sx="100000" sy="100000" kx="0" ky="0" algn="bl" rotWithShape="0" blurRad="101600" dist="25400" dir="16200000">
              <a:srgbClr val="000000">
                <a:alpha val="10000"/>
              </a:srgbClr>
            </a:outerShdw>
          </a:effectLst>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Diapositiva 21</a:t>
            </a:r>
            <a:endParaRPr lang="en-US" sz="3600" dirty="0"/>
          </a:p>
        </p:txBody>
      </p:sp>
      <p:sp>
        <p:nvSpPr>
          <p:cNvPr id="5" name="Text 3"/>
          <p:cNvSpPr/>
          <p:nvPr/>
        </p:nvSpPr>
        <p:spPr>
          <a:xfrm>
            <a:off x="1828800" y="2286000"/>
            <a:ext cx="5486400" cy="1828800"/>
          </a:xfrm>
          <a:prstGeom prst="rect">
            <a:avLst/>
          </a:prstGeom>
          <a:solidFill>
            <a:srgbClr val="FFFFFF">
              <a:alpha val="30000"/>
            </a:srgbClr>
          </a:solidFill>
          <a:ln w="12700">
            <a:solidFill>
              <a:srgbClr val="A0522D"/>
            </a:solidFill>
            <a:prstDash val="dash"/>
          </a:ln>
        </p:spPr>
        <p:txBody>
          <a:bodyPr wrap="square" rtlCol="0" anchor="ctr"/>
          <a:lstStyle/>
          <a:p>
            <a:pPr algn="ctr" indent="0" marL="0">
              <a:buNone/>
            </a:pPr>
            <a:r>
              <a:rPr lang="en-US" sz="1600" b="1" dirty="0">
                <a:solidFill>
                  <a:srgbClr val="A0522D"/>
                </a:solidFill>
              </a:rPr>
              <a:t>Utilice este espacio para añadir métricas mensuales, testimonios de clientes o detalles técnicos específicos.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5DC"/>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22</a:t>
            </a:r>
            <a:endParaRPr lang="en-US" sz="1000" dirty="0"/>
          </a:p>
        </p:txBody>
      </p:sp>
      <p:sp>
        <p:nvSpPr>
          <p:cNvPr id="3" name="Shape 1"/>
          <p:cNvSpPr/>
          <p:nvPr/>
        </p:nvSpPr>
        <p:spPr>
          <a:xfrm>
            <a:off x="365760" y="365760"/>
            <a:ext cx="8412480" cy="4371975"/>
          </a:xfrm>
          <a:prstGeom prst="rect">
            <a:avLst/>
          </a:prstGeom>
          <a:ln w="25400">
            <a:solidFill>
              <a:srgbClr val="A0522D"/>
            </a:solidFill>
            <a:prstDash val="solid"/>
          </a:ln>
        </p:spPr>
      </p:sp>
      <p:sp>
        <p:nvSpPr>
          <p:cNvPr id="4" name="Text 2"/>
          <p:cNvSpPr/>
          <p:nvPr/>
        </p:nvSpPr>
        <p:spPr>
          <a:xfrm>
            <a:off x="457200" y="548640"/>
            <a:ext cx="8229600" cy="0"/>
          </a:xfrm>
          <a:prstGeom prst="rect">
            <a:avLst/>
          </a:prstGeom>
          <a:noFill/>
          <a:ln/>
        </p:spPr>
        <p:txBody>
          <a:bodyPr wrap="square" rtlCol="0" anchor="ctr"/>
          <a:lstStyle/>
          <a:p>
            <a:pPr algn="ctr" indent="0" marL="0">
              <a:buNone/>
            </a:pPr>
            <a:r>
              <a:rPr lang="en-US" sz="3600" b="1" dirty="0">
                <a:solidFill>
                  <a:srgbClr val="D4AF37"/>
                </a:solidFill>
                <a:latin typeface="Georgia" pitchFamily="34" charset="0"/>
                <a:ea typeface="Georgia" pitchFamily="34" charset="-122"/>
                <a:cs typeface="Georgia" pitchFamily="34" charset="-120"/>
              </a:rPr>
              <a:t>Diapositiva 22</a:t>
            </a:r>
            <a:endParaRPr lang="en-US" sz="3600" dirty="0"/>
          </a:p>
        </p:txBody>
      </p:sp>
      <p:sp>
        <p:nvSpPr>
          <p:cNvPr id="5" name="Text 3"/>
          <p:cNvSpPr/>
          <p:nvPr/>
        </p:nvSpPr>
        <p:spPr>
          <a:xfrm>
            <a:off x="1828800" y="2286000"/>
            <a:ext cx="5486400" cy="1828800"/>
          </a:xfrm>
          <a:prstGeom prst="rect">
            <a:avLst/>
          </a:prstGeom>
          <a:solidFill>
            <a:srgbClr val="FFFFFF">
              <a:alpha val="40000"/>
            </a:srgbClr>
          </a:solidFill>
          <a:ln w="12700">
            <a:solidFill>
              <a:srgbClr val="A0522D"/>
            </a:solidFill>
            <a:prstDash val="dash"/>
          </a:ln>
        </p:spPr>
        <p:txBody>
          <a:bodyPr wrap="square" rtlCol="0" anchor="ctr"/>
          <a:lstStyle/>
          <a:p>
            <a:pPr algn="ctr" indent="0" marL="0">
              <a:buNone/>
            </a:pPr>
            <a:r>
              <a:rPr lang="en-US" sz="1600" dirty="0">
                <a:solidFill>
                  <a:srgbClr val="A0522D"/>
                </a:solidFill>
              </a:rPr>
              <a:t>Utilice este espacio para añadir métricas mensuales, testimonios de clientes o detalles técnicos específicos.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A0522D"/>
        </a:solidFill>
      </p:bgPr>
    </p:bg>
    <p:spTree>
      <p:nvGrpSpPr>
        <p:cNvPr id="1" name=""/>
        <p:cNvGrpSpPr/>
        <p:nvPr/>
      </p:nvGrpSpPr>
      <p:grpSpPr>
        <a:xfrm>
          <a:off x="0" y="0"/>
          <a:ext cx="0" cy="0"/>
          <a:chOff x="0" y="0"/>
          <a:chExt cx="0" cy="0"/>
        </a:xfrm>
      </p:grpSpPr>
      <p:sp>
        <p:nvSpPr>
          <p:cNvPr id="2" name="Text 0"/>
          <p:cNvSpPr/>
          <p:nvPr/>
        </p:nvSpPr>
        <p:spPr>
          <a:xfrm>
            <a:off x="8686800" y="4732020"/>
            <a:ext cx="274320" cy="274320"/>
          </a:xfrm>
          <a:prstGeom prst="rect">
            <a:avLst/>
          </a:prstGeom>
          <a:noFill/>
          <a:ln/>
        </p:spPr>
        <p:txBody>
          <a:bodyPr wrap="square" rtlCol="0" anchor="ctr"/>
          <a:lstStyle/>
          <a:p>
            <a:pPr algn="ctr" indent="0" marL="0">
              <a:buNone/>
            </a:pPr>
            <a:r>
              <a:rPr lang="en-US" sz="1000" dirty="0">
                <a:solidFill>
                  <a:srgbClr val="A0522D"/>
                </a:solidFill>
              </a:rPr>
              <a:t>23</a:t>
            </a:r>
            <a:endParaRPr lang="en-US" sz="1000" dirty="0"/>
          </a:p>
        </p:txBody>
      </p:sp>
      <p:sp>
        <p:nvSpPr>
          <p:cNvPr id="3" name="Shape 1"/>
          <p:cNvSpPr/>
          <p:nvPr/>
        </p:nvSpPr>
        <p:spPr>
          <a:xfrm>
            <a:off x="365760" y="365760"/>
            <a:ext cx="8412480" cy="4371975"/>
          </a:xfrm>
          <a:prstGeom prst="rect">
            <a:avLst/>
          </a:prstGeom>
          <a:ln w="25400">
            <a:solidFill>
              <a:srgbClr val="D4AF37"/>
            </a:solidFill>
            <a:prstDash val="solid"/>
          </a:ln>
        </p:spPr>
      </p:sp>
      <p:sp>
        <p:nvSpPr>
          <p:cNvPr id="4" name="Text 2"/>
          <p:cNvSpPr/>
          <p:nvPr/>
        </p:nvSpPr>
        <p:spPr>
          <a:xfrm>
            <a:off x="457200" y="548640"/>
            <a:ext cx="8229600" cy="0"/>
          </a:xfrm>
          <a:prstGeom prst="rect">
            <a:avLst/>
          </a:prstGeom>
          <a:noFill/>
          <a:ln/>
        </p:spPr>
        <p:txBody>
          <a:bodyPr wrap="square" rtlCol="0" anchor="ctr"/>
          <a:lstStyle/>
          <a:p>
            <a:pPr algn="ctr" indent="0" marL="0">
              <a:buNone/>
            </a:pPr>
            <a:r>
              <a:rPr lang="en-US" sz="3600" b="1" dirty="0">
                <a:solidFill>
                  <a:srgbClr val="D4AF37"/>
                </a:solidFill>
                <a:latin typeface="Georgia" pitchFamily="34" charset="0"/>
                <a:ea typeface="Georgia" pitchFamily="34" charset="-122"/>
                <a:cs typeface="Georgia" pitchFamily="34" charset="-120"/>
              </a:rPr>
              <a:t>Diapositiva 23</a:t>
            </a:r>
            <a:endParaRPr lang="en-US" sz="3600" dirty="0"/>
          </a:p>
        </p:txBody>
      </p:sp>
      <p:sp>
        <p:nvSpPr>
          <p:cNvPr id="5" name="Text 3"/>
          <p:cNvSpPr/>
          <p:nvPr/>
        </p:nvSpPr>
        <p:spPr>
          <a:xfrm>
            <a:off x="1828800" y="2286000"/>
            <a:ext cx="5486400" cy="1828800"/>
          </a:xfrm>
          <a:prstGeom prst="rect">
            <a:avLst/>
          </a:prstGeom>
          <a:solidFill>
            <a:srgbClr val="000000">
              <a:alpha val="20000"/>
            </a:srgbClr>
          </a:solidFill>
          <a:ln w="12700">
            <a:solidFill>
              <a:srgbClr val="D4AF37"/>
            </a:solidFill>
            <a:prstDash val="dash"/>
          </a:ln>
        </p:spPr>
        <p:txBody>
          <a:bodyPr wrap="square" rtlCol="0" anchor="ctr"/>
          <a:lstStyle/>
          <a:p>
            <a:pPr algn="ctr" indent="0" marL="0">
              <a:buNone/>
            </a:pPr>
            <a:r>
              <a:rPr lang="en-US" sz="1600" dirty="0">
                <a:solidFill>
                  <a:srgbClr val="D4AF37"/>
                </a:solidFill>
              </a:rPr>
              <a:t>Utilice este espacio para añadir métricas mensuales, testimonios de clientes o detalles técnicos específicos.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Orta Muebles México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Orta Muebles México - Presentación Corporativa</dc:title>
  <dc:subject>Catálogo e Historia de Negocio</dc:subject>
  <dc:creator>Néstor Crossa</dc:creator>
  <cp:lastModifiedBy>Néstor Crossa</cp:lastModifiedBy>
  <cp:revision>1</cp:revision>
  <dcterms:created xsi:type="dcterms:W3CDTF">2025-11-18T19:08:33Z</dcterms:created>
  <dcterms:modified xsi:type="dcterms:W3CDTF">2025-11-18T19:08:33Z</dcterms:modified>
</cp:coreProperties>
</file>